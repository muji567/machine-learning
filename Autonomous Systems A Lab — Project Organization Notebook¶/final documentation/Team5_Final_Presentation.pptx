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60" d="100"/>
          <a:sy n="160" d="100"/>
        </p:scale>
        <p:origin x="7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857400" y="685800"/>
            <a:ext cx="34291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" name="Google Shape;11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</a:endParaRPr>
          </a:p>
        </p:txBody>
      </p:sp>
      <p:sp>
        <p:nvSpPr>
          <p:cNvPr id="12" name="Google Shape;12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" name="Google Shape;20;p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</a:endParaRPr>
          </a:p>
        </p:txBody>
      </p:sp>
      <p:sp>
        <p:nvSpPr>
          <p:cNvPr id="21" name="Google Shape;21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" name="Google Shape;30;p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</a:endParaRPr>
          </a:p>
        </p:txBody>
      </p:sp>
      <p:sp>
        <p:nvSpPr>
          <p:cNvPr id="31" name="Google Shape;31;p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" name="Google Shape;41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dirty="0">
              <a:solidFill>
                <a:schemeClr val="dk1"/>
              </a:solidFill>
            </a:endParaRPr>
          </a:p>
        </p:txBody>
      </p:sp>
      <p:sp>
        <p:nvSpPr>
          <p:cNvPr id="42" name="Google Shape;42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" name="Google Shape;58;p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0" name="Google Shape;70;p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" name="Google Shape;82;p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f4523c6060_1_0:notes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g3f4523c6060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43050" y="514350"/>
            <a:ext cx="25719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f4523c6060_1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2250000" cy="225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4" name="Google Shape;104;g3f4523c6060_1_10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g3f4523c6060_1_10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4523c6060_1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2250000" cy="225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4" name="Google Shape;114;g3f4523c6060_1_11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g3f4523c6060_1_11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f4523c6060_1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2250000" cy="225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4" name="Google Shape;124;g3f4523c6060_1_5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g3f4523c6060_1_5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4" name="Google Shape;134;p1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300">
                <a:solidFill>
                  <a:schemeClr val="tx1"/>
                </a:solidFill>
              </a:defRPr>
            </a:lvl1pPr>
            <a:lvl2pPr lvl="1" algn="r">
              <a:buNone/>
              <a:defRPr sz="1300">
                <a:solidFill>
                  <a:schemeClr val="tx1"/>
                </a:solidFill>
              </a:defRPr>
            </a:lvl2pPr>
            <a:lvl3pPr lvl="2" algn="r">
              <a:buNone/>
              <a:defRPr sz="1300">
                <a:solidFill>
                  <a:schemeClr val="tx1"/>
                </a:solidFill>
              </a:defRPr>
            </a:lvl3pPr>
            <a:lvl4pPr lvl="3" algn="r">
              <a:buNone/>
              <a:defRPr sz="1300">
                <a:solidFill>
                  <a:schemeClr val="tx1"/>
                </a:solidFill>
              </a:defRPr>
            </a:lvl4pPr>
            <a:lvl5pPr lvl="4" algn="r">
              <a:buNone/>
              <a:defRPr sz="1300">
                <a:solidFill>
                  <a:schemeClr val="tx1"/>
                </a:solidFill>
              </a:defRPr>
            </a:lvl5pPr>
            <a:lvl6pPr lvl="5" algn="r">
              <a:buNone/>
              <a:defRPr sz="1300">
                <a:solidFill>
                  <a:schemeClr val="tx1"/>
                </a:solidFill>
              </a:defRPr>
            </a:lvl6pPr>
            <a:lvl7pPr lvl="6" algn="r">
              <a:buNone/>
              <a:defRPr sz="1300">
                <a:solidFill>
                  <a:schemeClr val="tx1"/>
                </a:solidFill>
              </a:defRPr>
            </a:lvl7pPr>
            <a:lvl8pPr lvl="7" algn="r">
              <a:buNone/>
              <a:defRPr sz="1300">
                <a:solidFill>
                  <a:schemeClr val="tx1"/>
                </a:solidFill>
              </a:defRPr>
            </a:lvl8pPr>
            <a:lvl9pPr lvl="8" algn="r">
              <a:buNone/>
              <a:defRPr sz="1300">
                <a:solidFill>
                  <a:schemeClr val="tx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D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>
            <a:off x="640080" y="1554480"/>
            <a:ext cx="786384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Truck Platooning: SVM Line Following and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Formal Verification with UPPAAL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3"/>
          <p:cNvSpPr/>
          <p:nvPr/>
        </p:nvSpPr>
        <p:spPr>
          <a:xfrm>
            <a:off x="640080" y="2926080"/>
            <a:ext cx="78638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Autonomous Systems A Lab, Team 5</a:t>
            </a: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3"/>
          <p:cNvSpPr/>
          <p:nvPr/>
        </p:nvSpPr>
        <p:spPr>
          <a:xfrm>
            <a:off x="640080" y="3383280"/>
            <a:ext cx="78638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Iko-ojo Victor Odaudu · Hany Chowdhury ·   Muhammad Mujhtaba Qaiser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D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200"/>
              <a:buFont typeface="Arial"/>
              <a:buNone/>
            </a:pPr>
            <a:r>
              <a:rPr lang="en-US" sz="2200" b="1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Machine Learning: SVM Line Following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4"/>
          <p:cNvSpPr/>
          <p:nvPr/>
        </p:nvSpPr>
        <p:spPr>
          <a:xfrm>
            <a:off x="283480" y="1666350"/>
            <a:ext cx="3657600" cy="384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Arial"/>
              <a:buChar char="–"/>
            </a:pPr>
            <a:r>
              <a:rPr lang="en-US" sz="16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Steering from the line camera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Arial"/>
              <a:buChar char="–"/>
            </a:pPr>
            <a:r>
              <a:rPr lang="en-US" sz="1600">
                <a:solidFill>
                  <a:srgbClr val="1A1A1A"/>
                </a:solidFill>
              </a:rPr>
              <a:t>started with 3 classes later changed to 5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Arial"/>
              <a:buChar char="–"/>
            </a:pPr>
            <a:r>
              <a:rPr lang="en-US" sz="1600">
                <a:solidFill>
                  <a:srgbClr val="1A1A1A"/>
                </a:solidFill>
              </a:rPr>
              <a:t>One feature: line offset from centre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Arial"/>
              <a:buChar char="–"/>
            </a:pPr>
            <a:r>
              <a:rPr lang="en-US" sz="16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SVM (RBF) + GridSearchCV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Arial"/>
              <a:buChar char="–"/>
            </a:pPr>
            <a:r>
              <a:rPr lang="en-US" sz="1600">
                <a:solidFill>
                  <a:srgbClr val="1A1A1A"/>
                </a:solidFill>
              </a:rPr>
              <a:t>Trained on synthetic + data from the science truck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" name="Google Shape;25;p4" descr="img/ml_samples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57096" y="1190116"/>
            <a:ext cx="4899692" cy="2679152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4"/>
          <p:cNvSpPr/>
          <p:nvPr/>
        </p:nvSpPr>
        <p:spPr>
          <a:xfrm>
            <a:off x="3761493" y="4300429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Arial"/>
              <a:buNone/>
            </a:pPr>
            <a:r>
              <a:rPr lang="en-US" sz="900" i="1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Synthetic training samples (left / straight / right)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D"/>
        </a:solidFill>
        <a:effectLst/>
      </p:bgPr>
    </p:bg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200"/>
              <a:buFont typeface="Arial"/>
              <a:buNone/>
            </a:pPr>
            <a:r>
              <a:rPr lang="en-US" sz="2200" b="1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Machine Learning Results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5"/>
          <p:cNvSpPr/>
          <p:nvPr/>
        </p:nvSpPr>
        <p:spPr>
          <a:xfrm>
            <a:off x="457200" y="1280160"/>
            <a:ext cx="365760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6000"/>
              <a:buFont typeface="Arial"/>
              <a:buNone/>
            </a:pPr>
            <a:r>
              <a:rPr lang="en-US" sz="6000" b="1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99%</a:t>
            </a:r>
            <a:endParaRPr sz="6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accuracy (5 balanced classes)</a:t>
            </a:r>
            <a:endParaRPr sz="6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5"/>
          <p:cNvSpPr/>
          <p:nvPr/>
        </p:nvSpPr>
        <p:spPr>
          <a:xfrm>
            <a:off x="457200" y="2880360"/>
            <a:ext cx="3657600" cy="384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Arial"/>
              <a:buChar char="–"/>
            </a:pPr>
            <a:r>
              <a:rPr lang="en-US" sz="15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Classes balanced to 104 each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Arial"/>
              <a:buChar char="–"/>
            </a:pPr>
            <a:r>
              <a:rPr lang="en-US" sz="15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Prevents bias toward STRAIGHT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Arial"/>
              <a:buChar char="–"/>
            </a:pPr>
            <a:r>
              <a:rPr lang="en-US" sz="15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Almost no class confusion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" name="Google Shape;36;p5" descr="img/ml_confusion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02349" y="708465"/>
            <a:ext cx="4343747" cy="3634935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5"/>
          <p:cNvSpPr/>
          <p:nvPr/>
        </p:nvSpPr>
        <p:spPr>
          <a:xfrm>
            <a:off x="4666983" y="4343400"/>
            <a:ext cx="3879113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Arial"/>
              <a:buNone/>
            </a:pPr>
            <a:r>
              <a:rPr lang="en-US" sz="900" i="1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5-class confusion matrix (test set)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D"/>
        </a:solidFill>
        <a:effectLst/>
      </p:bgPr>
    </p:bg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200"/>
              <a:buFont typeface="Arial"/>
              <a:buNone/>
            </a:pPr>
            <a:r>
              <a:rPr lang="en-US" sz="2200" b="1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Platooning: Three Scenarios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6"/>
          <p:cNvSpPr/>
          <p:nvPr/>
        </p:nvSpPr>
        <p:spPr>
          <a:xfrm>
            <a:off x="548640" y="3429000"/>
            <a:ext cx="23317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Follower tracks the leader at a safe distance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6"/>
          <p:cNvSpPr/>
          <p:nvPr/>
        </p:nvSpPr>
        <p:spPr>
          <a:xfrm>
            <a:off x="3337560" y="3429000"/>
            <a:ext cx="23317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Wireless link drops, follower enters fallback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6"/>
          <p:cNvSpPr/>
          <p:nvPr/>
        </p:nvSpPr>
        <p:spPr>
          <a:xfrm>
            <a:off x="6035040" y="3108960"/>
            <a:ext cx="2514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Arial"/>
              <a:buNone/>
            </a:pPr>
            <a:r>
              <a:rPr lang="en-US" sz="1400" b="1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Emergency Braking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6"/>
          <p:cNvSpPr/>
          <p:nvPr/>
        </p:nvSpPr>
        <p:spPr>
          <a:xfrm>
            <a:off x="6126480" y="3429000"/>
            <a:ext cx="23317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Obstacle ahead, redundant braking paths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6"/>
          <p:cNvSpPr/>
          <p:nvPr/>
        </p:nvSpPr>
        <p:spPr>
          <a:xfrm>
            <a:off x="6035040" y="4981458"/>
            <a:ext cx="3607339" cy="160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57070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rPr>
              <a:t>All 3 illustrations are AI generated by gemini’s nanobanana</a:t>
            </a:r>
            <a:endParaRPr sz="800">
              <a:solidFill>
                <a:srgbClr val="75707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" name="Google Shape;50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1858" y="1444720"/>
            <a:ext cx="2839727" cy="190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6"/>
          <p:cNvSpPr/>
          <p:nvPr/>
        </p:nvSpPr>
        <p:spPr>
          <a:xfrm>
            <a:off x="365760" y="3108960"/>
            <a:ext cx="2514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Arial"/>
              <a:buNone/>
            </a:pPr>
            <a:r>
              <a:rPr lang="en-US" sz="1400" b="1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Normal Platooning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" name="Google Shape;52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40659" y="1556502"/>
            <a:ext cx="2839728" cy="179681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/>
          <p:nvPr/>
        </p:nvSpPr>
        <p:spPr>
          <a:xfrm>
            <a:off x="3246120" y="3108960"/>
            <a:ext cx="2514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Arial"/>
              <a:buNone/>
            </a:pPr>
            <a:r>
              <a:rPr lang="en-US" sz="1400" b="1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Communication Failure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4" name="Google Shape;54;p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69461" y="1420284"/>
            <a:ext cx="2758702" cy="159529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D"/>
        </a:solid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7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200"/>
              <a:buFont typeface="Arial"/>
              <a:buNone/>
            </a:pPr>
            <a:r>
              <a:rPr lang="en-US" sz="2200" b="1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Scenario 1: Normal Platooning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7"/>
          <p:cNvSpPr/>
          <p:nvPr/>
        </p:nvSpPr>
        <p:spPr>
          <a:xfrm>
            <a:off x="411475" y="1005853"/>
            <a:ext cx="2741100" cy="23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298450" algn="l" rtl="0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100"/>
              <a:buChar char="–"/>
            </a:pPr>
            <a:r>
              <a:rPr lang="en-US" sz="1100">
                <a:solidFill>
                  <a:srgbClr val="1A1A1A"/>
                </a:solidFill>
              </a:rPr>
              <a:t>Leader sends speed + position</a:t>
            </a:r>
            <a:endParaRPr sz="1100">
              <a:solidFill>
                <a:srgbClr val="1A1A1A"/>
              </a:solidFill>
            </a:endParaRPr>
          </a:p>
          <a:p>
            <a:pPr marL="457200" lvl="0" indent="-298450" algn="l" rtl="0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100"/>
              <a:buChar char="–"/>
            </a:pPr>
            <a:r>
              <a:rPr lang="en-US" sz="1100">
                <a:solidFill>
                  <a:srgbClr val="1A1A1A"/>
                </a:solidFill>
              </a:rPr>
              <a:t>Follower keeps safe 10m target 5m minimum</a:t>
            </a:r>
            <a:endParaRPr sz="1100">
              <a:solidFill>
                <a:srgbClr val="1A1A1A"/>
              </a:solidFill>
            </a:endParaRPr>
          </a:p>
          <a:p>
            <a:pPr marL="457200" lvl="0" indent="-298450" algn="l" rtl="0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100"/>
              <a:buChar char="–"/>
            </a:pPr>
            <a:r>
              <a:rPr lang="en-US" sz="1100">
                <a:solidFill>
                  <a:srgbClr val="1A1A1A"/>
                </a:solidFill>
              </a:rPr>
              <a:t>Leader loops sending the signal</a:t>
            </a:r>
            <a:endParaRPr sz="1100">
              <a:solidFill>
                <a:srgbClr val="1A1A1A"/>
              </a:solidFill>
            </a:endParaRPr>
          </a:p>
          <a:p>
            <a:pPr marL="457200" lvl="0" indent="-298450" algn="l" rtl="0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100"/>
              <a:buChar char="–"/>
            </a:pPr>
            <a:r>
              <a:rPr lang="en-US" sz="1100">
                <a:solidFill>
                  <a:srgbClr val="1A1A1A"/>
                </a:solidFill>
              </a:rPr>
              <a:t>Lane detection processes each frame (≤ 33 ms)</a:t>
            </a:r>
            <a:endParaRPr sz="1100">
              <a:solidFill>
                <a:srgbClr val="1A1A1A"/>
              </a:solidFill>
            </a:endParaRPr>
          </a:p>
          <a:p>
            <a:pPr marL="457200" lvl="0" indent="-298450" algn="l" rtl="0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100"/>
              <a:buChar char="–"/>
            </a:pPr>
            <a:r>
              <a:rPr lang="en-US" sz="1100">
                <a:solidFill>
                  <a:srgbClr val="1A1A1A"/>
                </a:solidFill>
              </a:rPr>
              <a:t>Controller reduces speed if too close, else matches</a:t>
            </a:r>
            <a:endParaRPr sz="1100">
              <a:solidFill>
                <a:srgbClr val="1A1A1A"/>
              </a:solidFill>
            </a:endParaRPr>
          </a:p>
        </p:txBody>
      </p:sp>
      <p:pic>
        <p:nvPicPr>
          <p:cNvPr id="63" name="Google Shape;63;p7" descr="img/model1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12251" y="817327"/>
            <a:ext cx="4502581" cy="2730545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7"/>
          <p:cNvSpPr/>
          <p:nvPr/>
        </p:nvSpPr>
        <p:spPr>
          <a:xfrm>
            <a:off x="4261953" y="3606247"/>
            <a:ext cx="400809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Arial"/>
              <a:buNone/>
            </a:pPr>
            <a:r>
              <a:rPr lang="en-US" sz="900" i="1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UPPAAL model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5" name="Google Shape;65;p7" descr="img/verif1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1591" y="3528417"/>
            <a:ext cx="4833175" cy="1264207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7"/>
          <p:cNvSpPr/>
          <p:nvPr/>
        </p:nvSpPr>
        <p:spPr>
          <a:xfrm>
            <a:off x="711591" y="4812210"/>
            <a:ext cx="4633905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Arial"/>
              <a:buNone/>
            </a:pPr>
            <a:r>
              <a:rPr lang="en-US" sz="900" i="1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Verification: deadlock-free, all queries satisfied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D"/>
        </a:solid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8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200"/>
              <a:buFont typeface="Arial"/>
              <a:buNone/>
            </a:pPr>
            <a:r>
              <a:rPr lang="en-US" sz="2200" b="1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Scenario 2: Communication Failure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8"/>
          <p:cNvSpPr/>
          <p:nvPr/>
        </p:nvSpPr>
        <p:spPr>
          <a:xfrm>
            <a:off x="166200" y="937525"/>
            <a:ext cx="3113400" cy="33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298450" algn="l" rtl="0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100"/>
              <a:buChar char="–"/>
            </a:pPr>
            <a:r>
              <a:rPr lang="en-US" sz="1100">
                <a:solidFill>
                  <a:srgbClr val="1A1A1A"/>
                </a:solidFill>
              </a:rPr>
              <a:t>Link drops, failure detected within 500 ms</a:t>
            </a:r>
            <a:endParaRPr sz="1100">
              <a:solidFill>
                <a:srgbClr val="1A1A1A"/>
              </a:solidFill>
            </a:endParaRPr>
          </a:p>
          <a:p>
            <a:pPr marL="457200" lvl="0" indent="-298450" algn="l" rtl="0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100"/>
              <a:buChar char="–"/>
            </a:pPr>
            <a:r>
              <a:rPr lang="en-US" sz="1100">
                <a:solidFill>
                  <a:srgbClr val="1A1A1A"/>
                </a:solidFill>
              </a:rPr>
              <a:t>Fallback within 100 ms, full stop at 10 s</a:t>
            </a:r>
            <a:endParaRPr sz="1200">
              <a:solidFill>
                <a:srgbClr val="1A1A1A"/>
              </a:solidFill>
            </a:endParaRPr>
          </a:p>
          <a:p>
            <a:pPr marL="457200" lvl="0" indent="-298450" algn="l" rtl="0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100"/>
              <a:buChar char="–"/>
            </a:pPr>
            <a:r>
              <a:rPr lang="en-US" sz="1100">
                <a:solidFill>
                  <a:srgbClr val="1A1A1A"/>
                </a:solidFill>
              </a:rPr>
              <a:t>Follower: Platooning -&gt; FailureDetected -&gt; FallbackMode -&gt; SafeStop</a:t>
            </a:r>
            <a:endParaRPr sz="1100">
              <a:solidFill>
                <a:srgbClr val="1A1A1A"/>
              </a:solidFill>
            </a:endParaRPr>
          </a:p>
          <a:p>
            <a:pPr marL="457200" lvl="0" indent="-298450" algn="l" rtl="0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100"/>
              <a:buChar char="–"/>
            </a:pPr>
            <a:r>
              <a:rPr lang="en-US" sz="1100">
                <a:solidFill>
                  <a:srgbClr val="1A1A1A"/>
                </a:solidFill>
              </a:rPr>
              <a:t>Clock x times out at 500, clock f runs the fallback</a:t>
            </a:r>
            <a:endParaRPr sz="1100">
              <a:solidFill>
                <a:srgbClr val="1A1A1A"/>
              </a:solidFill>
            </a:endParaRPr>
          </a:p>
          <a:p>
            <a:pPr marL="457200" lvl="0" indent="-298450" algn="l" rtl="0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100"/>
              <a:buChar char="–"/>
            </a:pPr>
            <a:r>
              <a:rPr lang="en-US" sz="1100">
                <a:solidFill>
                  <a:srgbClr val="1A1A1A"/>
                </a:solidFill>
              </a:rPr>
              <a:t>Camera loops independently, lane keeping stays on</a:t>
            </a:r>
            <a:endParaRPr sz="1100">
              <a:solidFill>
                <a:srgbClr val="1A1A1A"/>
              </a:solidFill>
            </a:endParaRPr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 sz="1100">
              <a:solidFill>
                <a:srgbClr val="1A1A1A"/>
              </a:solidFill>
            </a:endParaRPr>
          </a:p>
        </p:txBody>
      </p:sp>
      <p:sp>
        <p:nvSpPr>
          <p:cNvPr id="75" name="Google Shape;75;p8"/>
          <p:cNvSpPr/>
          <p:nvPr/>
        </p:nvSpPr>
        <p:spPr>
          <a:xfrm>
            <a:off x="3931109" y="3460388"/>
            <a:ext cx="4892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Arial"/>
              <a:buNone/>
            </a:pPr>
            <a:r>
              <a:rPr lang="en-US" sz="900" i="1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UPPAAL model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6" name="Google Shape;76;p8" descr="img/verif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1188" y="3079966"/>
            <a:ext cx="3809033" cy="1510322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8"/>
          <p:cNvSpPr/>
          <p:nvPr/>
        </p:nvSpPr>
        <p:spPr>
          <a:xfrm>
            <a:off x="458167" y="4624951"/>
            <a:ext cx="2306117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Arial"/>
              <a:buNone/>
            </a:pPr>
            <a:r>
              <a:rPr lang="en-US" sz="900" i="1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Verification: deadlock-free, all queries satisfied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8" name="Google Shape;78;p8" descr="img/model2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90122" y="937520"/>
            <a:ext cx="5418506" cy="2532012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D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9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200"/>
              <a:buFont typeface="Arial"/>
              <a:buNone/>
            </a:pPr>
            <a:r>
              <a:rPr lang="en-US" sz="2200" b="1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Scenario 3: Emergency Braking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9"/>
          <p:cNvSpPr/>
          <p:nvPr/>
        </p:nvSpPr>
        <p:spPr>
          <a:xfrm>
            <a:off x="321825" y="1302900"/>
            <a:ext cx="3372600" cy="384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298450" algn="l" rtl="0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100"/>
              <a:buChar char="–"/>
            </a:pPr>
            <a:r>
              <a:rPr lang="en-US" sz="1100">
                <a:solidFill>
                  <a:srgbClr val="1A1A1A"/>
                </a:solidFill>
              </a:rPr>
              <a:t>Obstacle ahead, leader brakes and signals</a:t>
            </a:r>
            <a:endParaRPr sz="1100">
              <a:solidFill>
                <a:srgbClr val="1A1A1A"/>
              </a:solidFill>
            </a:endParaRPr>
          </a:p>
          <a:p>
            <a:pPr marL="457200" lvl="0" indent="-298450" algn="l" rtl="0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100"/>
              <a:buChar char="–"/>
            </a:pPr>
            <a:r>
              <a:rPr lang="en-US" sz="1100">
                <a:solidFill>
                  <a:srgbClr val="1A1A1A"/>
                </a:solidFill>
              </a:rPr>
              <a:t>Three braking paths, no single point of failure</a:t>
            </a:r>
            <a:endParaRPr sz="1100">
              <a:solidFill>
                <a:srgbClr val="1A1A1A"/>
              </a:solidFill>
            </a:endParaRPr>
          </a:p>
          <a:p>
            <a:pPr marL="457200" lvl="0" indent="-298450" algn="l" rtl="0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100"/>
              <a:buChar char="–"/>
            </a:pPr>
            <a:r>
              <a:rPr lang="en-US" sz="1100">
                <a:solidFill>
                  <a:srgbClr val="1A1A1A"/>
                </a:solidFill>
              </a:rPr>
              <a:t>Path A: signal received → brake ≤ 200 ms</a:t>
            </a:r>
            <a:endParaRPr sz="1100">
              <a:solidFill>
                <a:srgbClr val="1A1A1A"/>
              </a:solidFill>
            </a:endParaRPr>
          </a:p>
          <a:p>
            <a:pPr marL="457200" lvl="0" indent="-298450" algn="l" rtl="0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100"/>
              <a:buChar char="–"/>
            </a:pPr>
            <a:r>
              <a:rPr lang="en-US" sz="1100">
                <a:solidFill>
                  <a:srgbClr val="1A1A1A"/>
                </a:solidFill>
              </a:rPr>
              <a:t>Path B: camera detects → brake ≤ 300 ms</a:t>
            </a:r>
            <a:endParaRPr sz="1100">
              <a:solidFill>
                <a:srgbClr val="1A1A1A"/>
              </a:solidFill>
            </a:endParaRPr>
          </a:p>
          <a:p>
            <a:pPr marL="457200" lvl="0" indent="-298450" algn="l" rtl="0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100"/>
              <a:buChar char="–"/>
            </a:pPr>
            <a:r>
              <a:rPr lang="en-US" sz="1100">
                <a:solidFill>
                  <a:srgbClr val="1A1A1A"/>
                </a:solidFill>
              </a:rPr>
              <a:t>Path C: precautionary stop by 400 ms</a:t>
            </a:r>
            <a:endParaRPr sz="1100">
              <a:solidFill>
                <a:srgbClr val="1A1A1A"/>
              </a:solidFill>
            </a:endParaRPr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 sz="1100">
              <a:solidFill>
                <a:srgbClr val="1A1A1A"/>
              </a:solidFill>
            </a:endParaRPr>
          </a:p>
        </p:txBody>
      </p:sp>
      <p:pic>
        <p:nvPicPr>
          <p:cNvPr id="87" name="Google Shape;87;p9" descr="img/model3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78844" y="729099"/>
            <a:ext cx="3557888" cy="2825631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9"/>
          <p:cNvSpPr/>
          <p:nvPr/>
        </p:nvSpPr>
        <p:spPr>
          <a:xfrm>
            <a:off x="4775475" y="3545895"/>
            <a:ext cx="320460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Arial"/>
              <a:buNone/>
            </a:pPr>
            <a:r>
              <a:rPr lang="en-US" sz="900" i="1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UPPAAL model, three braking paths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9" name="Google Shape;89;p9" descr="img/verif3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3221" y="3693738"/>
            <a:ext cx="4731837" cy="925457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9"/>
          <p:cNvSpPr/>
          <p:nvPr/>
        </p:nvSpPr>
        <p:spPr>
          <a:xfrm>
            <a:off x="321834" y="4575242"/>
            <a:ext cx="4731837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Arial"/>
              <a:buNone/>
            </a:pPr>
            <a:r>
              <a:rPr lang="en-US" sz="900" i="1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Verification: deadlock-free, all queries satisfied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D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0"/>
          <p:cNvSpPr txBox="1"/>
          <p:nvPr/>
        </p:nvSpPr>
        <p:spPr>
          <a:xfrm>
            <a:off x="496905" y="170632"/>
            <a:ext cx="83211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Task 4: Verification</a:t>
            </a:r>
            <a:endParaRPr/>
          </a:p>
        </p:txBody>
      </p:sp>
      <p:sp>
        <p:nvSpPr>
          <p:cNvPr id="97" name="Google Shape;97;p10"/>
          <p:cNvSpPr txBox="1"/>
          <p:nvPr/>
        </p:nvSpPr>
        <p:spPr>
          <a:xfrm>
            <a:off x="411480" y="1005840"/>
            <a:ext cx="2651700" cy="20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–  all queries pass</a:t>
            </a:r>
            <a:endParaRPr/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–  No deadlock</a:t>
            </a:r>
            <a:endParaRPr>
              <a:solidFill>
                <a:srgbClr val="1A1A1A"/>
              </a:solidFill>
            </a:endParaRPr>
          </a:p>
          <a:p>
            <a:pPr marL="457200" marR="0" lvl="0" indent="-317500" algn="l" rtl="0">
              <a:spcBef>
                <a:spcPts val="80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Unsafe distance is detected and corrected by </a:t>
            </a:r>
            <a:r>
              <a:rPr lang="en-US" b="1"/>
              <a:t>ReduceSpeed </a:t>
            </a:r>
            <a:r>
              <a:rPr lang="en-US"/>
              <a:t>or </a:t>
            </a:r>
            <a:r>
              <a:rPr lang="en-US" b="1"/>
              <a:t>EmergencyBrake</a:t>
            </a:r>
            <a:r>
              <a:rPr lang="en-US"/>
              <a:t>. </a:t>
            </a:r>
            <a:endParaRPr/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     –  </a:t>
            </a:r>
            <a:r>
              <a:rPr lang="en-US" sz="1300">
                <a:solidFill>
                  <a:srgbClr val="555555"/>
                </a:solidFill>
              </a:rPr>
              <a:t>dist &lt; minimum triggers a safe control response </a:t>
            </a:r>
            <a:endParaRPr/>
          </a:p>
        </p:txBody>
      </p:sp>
      <p:sp>
        <p:nvSpPr>
          <p:cNvPr id="98" name="Google Shape;98;p10"/>
          <p:cNvSpPr/>
          <p:nvPr/>
        </p:nvSpPr>
        <p:spPr>
          <a:xfrm>
            <a:off x="3200400" y="960120"/>
            <a:ext cx="5532000" cy="3520500"/>
          </a:xfrm>
          <a:prstGeom prst="rect">
            <a:avLst/>
          </a:prstGeom>
          <a:solidFill>
            <a:srgbClr val="F7F7F7"/>
          </a:solidFill>
          <a:ln w="12700" cap="flat" cmpd="sng">
            <a:solidFill>
              <a:srgbClr val="9A9A9A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i="1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Task 4 verifier image</a:t>
            </a:r>
            <a:endParaRPr sz="1100" i="1">
              <a:solidFill>
                <a:srgbClr val="5555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0"/>
          <p:cNvSpPr txBox="1"/>
          <p:nvPr/>
        </p:nvSpPr>
        <p:spPr>
          <a:xfrm>
            <a:off x="3200400" y="4526280"/>
            <a:ext cx="55320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i="1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Verification results, deadlock-free</a:t>
            </a:r>
            <a:endParaRPr/>
          </a:p>
        </p:txBody>
      </p:sp>
      <p:pic>
        <p:nvPicPr>
          <p:cNvPr id="100" name="Google Shape;10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0400" y="960125"/>
            <a:ext cx="5532000" cy="3520499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D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1"/>
          <p:cNvSpPr txBox="1"/>
          <p:nvPr/>
        </p:nvSpPr>
        <p:spPr>
          <a:xfrm>
            <a:off x="411480" y="256032"/>
            <a:ext cx="83211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Task 4: Combined Control Model: Follower Control</a:t>
            </a:r>
            <a:endParaRPr/>
          </a:p>
        </p:txBody>
      </p:sp>
      <p:sp>
        <p:nvSpPr>
          <p:cNvPr id="108" name="Google Shape;108;p11"/>
          <p:cNvSpPr txBox="1"/>
          <p:nvPr/>
        </p:nvSpPr>
        <p:spPr>
          <a:xfrm>
            <a:off x="411480" y="1005840"/>
            <a:ext cx="2651700" cy="27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1A1A1A"/>
                </a:solidFill>
              </a:rPr>
              <a:t>– NormalACC is the main driving mode</a:t>
            </a:r>
            <a:endParaRPr>
              <a:solidFill>
                <a:srgbClr val="1A1A1A"/>
              </a:solidFill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1A1A1A"/>
                </a:solidFill>
              </a:rPr>
              <a:t>– ReduceSpeed if distance is too small</a:t>
            </a:r>
            <a:endParaRPr>
              <a:solidFill>
                <a:srgbClr val="1A1A1A"/>
              </a:solidFill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1A1A1A"/>
                </a:solidFill>
              </a:rPr>
              <a:t>– CommLost if wireless link fails</a:t>
            </a:r>
            <a:endParaRPr>
              <a:solidFill>
                <a:srgbClr val="1A1A1A"/>
              </a:solidFill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1A1A1A"/>
                </a:solidFill>
              </a:rPr>
              <a:t>– FallbackACC after timeout</a:t>
            </a:r>
            <a:endParaRPr>
              <a:solidFill>
                <a:srgbClr val="1A1A1A"/>
              </a:solidFill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1A1A1A"/>
                </a:solidFill>
              </a:rPr>
              <a:t>– EmergencyBrake or SafeStop if unsafe</a:t>
            </a:r>
            <a:endParaRPr>
              <a:solidFill>
                <a:srgbClr val="1A1A1A"/>
              </a:solidFill>
            </a:endParaRPr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>
              <a:solidFill>
                <a:srgbClr val="1A1A1A"/>
              </a:solidFill>
            </a:endParaRPr>
          </a:p>
        </p:txBody>
      </p:sp>
      <p:sp>
        <p:nvSpPr>
          <p:cNvPr id="109" name="Google Shape;109;p11"/>
          <p:cNvSpPr txBox="1"/>
          <p:nvPr/>
        </p:nvSpPr>
        <p:spPr>
          <a:xfrm>
            <a:off x="3266825" y="3909430"/>
            <a:ext cx="55320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i="1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Combined UPPAAL control model</a:t>
            </a:r>
            <a:endParaRPr/>
          </a:p>
        </p:txBody>
      </p:sp>
      <p:pic>
        <p:nvPicPr>
          <p:cNvPr id="110" name="Google Shape;110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5580" y="839232"/>
            <a:ext cx="5776019" cy="3026902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D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2"/>
          <p:cNvSpPr txBox="1"/>
          <p:nvPr/>
        </p:nvSpPr>
        <p:spPr>
          <a:xfrm>
            <a:off x="411480" y="256032"/>
            <a:ext cx="83211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Task 4: Combined Control Model: Lane S</a:t>
            </a:r>
            <a:r>
              <a:rPr lang="en-US" sz="2200" b="1">
                <a:solidFill>
                  <a:srgbClr val="1A1A1A"/>
                </a:solidFill>
              </a:rPr>
              <a:t>VM</a:t>
            </a:r>
            <a:endParaRPr/>
          </a:p>
        </p:txBody>
      </p:sp>
      <p:sp>
        <p:nvSpPr>
          <p:cNvPr id="118" name="Google Shape;118;p12"/>
          <p:cNvSpPr txBox="1"/>
          <p:nvPr/>
        </p:nvSpPr>
        <p:spPr>
          <a:xfrm>
            <a:off x="411480" y="1005840"/>
            <a:ext cx="2651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9" name="Google Shape;119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9155" y="686832"/>
            <a:ext cx="4109440" cy="3534647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121" name="Google Shape;121;p12"/>
          <p:cNvSpPr txBox="1"/>
          <p:nvPr/>
        </p:nvSpPr>
        <p:spPr>
          <a:xfrm>
            <a:off x="180325" y="1351625"/>
            <a:ext cx="3000000" cy="25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– Abstracts the SVM lane result</a:t>
            </a:r>
            <a:endParaRPr/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– Processing time: T_CAM = 33 ms</a:t>
            </a:r>
            <a:endParaRPr/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– lane_ok → normal lane detected</a:t>
            </a:r>
            <a:endParaRPr/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– !lane_ok → svm_bad = true</a:t>
            </a:r>
            <a:endParaRPr/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– Bad SVM result triggers safe control response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D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3"/>
          <p:cNvSpPr txBox="1"/>
          <p:nvPr/>
        </p:nvSpPr>
        <p:spPr>
          <a:xfrm>
            <a:off x="411480" y="256032"/>
            <a:ext cx="83211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Task 4: Combined Control Model: </a:t>
            </a:r>
            <a:r>
              <a:rPr lang="en-US" sz="2200" b="1">
                <a:solidFill>
                  <a:srgbClr val="1A1A1A"/>
                </a:solidFill>
              </a:rPr>
              <a:t>Leader and Sensors</a:t>
            </a:r>
            <a:endParaRPr/>
          </a:p>
        </p:txBody>
      </p:sp>
      <p:sp>
        <p:nvSpPr>
          <p:cNvPr id="128" name="Google Shape;128;p13"/>
          <p:cNvSpPr txBox="1"/>
          <p:nvPr/>
        </p:nvSpPr>
        <p:spPr>
          <a:xfrm>
            <a:off x="411480" y="1005840"/>
            <a:ext cx="2651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9" name="Google Shape;129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5580" y="839232"/>
            <a:ext cx="5654190" cy="3534648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131" name="Google Shape;131;p13"/>
          <p:cNvSpPr txBox="1"/>
          <p:nvPr/>
        </p:nvSpPr>
        <p:spPr>
          <a:xfrm>
            <a:off x="63175" y="917100"/>
            <a:ext cx="3000000" cy="330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– Generates possible platooning situations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– CloseGap: distance becomes unsafe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– CommLoss: wireless link fails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– LaneLoss: camera/SVM loses lane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– Obstacle: emergency case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– Restore: system returns to normal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D"/>
        </a:soli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4"/>
          <p:cNvSpPr txBox="1"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Summary</a:t>
            </a:r>
            <a:endParaRPr/>
          </a:p>
        </p:txBody>
      </p:sp>
      <p:sp>
        <p:nvSpPr>
          <p:cNvPr id="138" name="Google Shape;138;p14"/>
          <p:cNvSpPr txBox="1"/>
          <p:nvPr/>
        </p:nvSpPr>
        <p:spPr>
          <a:xfrm>
            <a:off x="548640" y="1417320"/>
            <a:ext cx="39319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–  SVM line follower, 5 steering classes</a:t>
            </a:r>
            <a:endParaRPr/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–  99% accuracy on balanced data</a:t>
            </a:r>
            <a:endParaRPr/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–  Runs live in a ROS2 node</a:t>
            </a:r>
            <a:endParaRPr/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–  3 platooning scenarios modelled</a:t>
            </a:r>
            <a:endParaRPr/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–  Combined control model (Task 4)</a:t>
            </a:r>
            <a:endParaRPr/>
          </a:p>
        </p:txBody>
      </p:sp>
      <p:sp>
        <p:nvSpPr>
          <p:cNvPr id="139" name="Google Shape;139;p14"/>
          <p:cNvSpPr txBox="1"/>
          <p:nvPr/>
        </p:nvSpPr>
        <p:spPr>
          <a:xfrm>
            <a:off x="4663440" y="1051560"/>
            <a:ext cx="4023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14"/>
          <p:cNvSpPr txBox="1"/>
          <p:nvPr/>
        </p:nvSpPr>
        <p:spPr>
          <a:xfrm>
            <a:off x="4663450" y="1417331"/>
            <a:ext cx="4023300" cy="17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–  All models deadlock-free</a:t>
            </a:r>
            <a:endParaRPr/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–  Timing bounds always met</a:t>
            </a:r>
            <a:endParaRPr/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–  Safe fallback on link failure</a:t>
            </a:r>
            <a:endParaRPr/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–  Redundant braking, no single failure</a:t>
            </a:r>
            <a:endParaRPr/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–  </a:t>
            </a:r>
            <a:r>
              <a:rPr lang="en-US" sz="1300">
                <a:solidFill>
                  <a:srgbClr val="1A1A1A"/>
                </a:solidFill>
              </a:rPr>
              <a:t>Minimum distance violation triggers safe control response</a:t>
            </a:r>
            <a:endParaRPr/>
          </a:p>
        </p:txBody>
      </p:sp>
      <p:sp>
        <p:nvSpPr>
          <p:cNvPr id="141" name="Google Shape;141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594</Words>
  <Application>Microsoft Macintosh PowerPoint</Application>
  <PresentationFormat>On-screen Show (16:9)</PresentationFormat>
  <Paragraphs>111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victor odaudu</cp:lastModifiedBy>
  <cp:revision>1</cp:revision>
  <dcterms:modified xsi:type="dcterms:W3CDTF">2026-07-10T21:38:44Z</dcterms:modified>
</cp:coreProperties>
</file>